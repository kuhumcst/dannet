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9"/>
  </p:notesMasterIdLst>
  <p:handoutMasterIdLst>
    <p:handoutMasterId r:id="rId10"/>
  </p:handoutMasterIdLst>
  <p:sldIdLst>
    <p:sldId id="441" r:id="rId2"/>
    <p:sldId id="450" r:id="rId3"/>
    <p:sldId id="494" r:id="rId4"/>
    <p:sldId id="495" r:id="rId5"/>
    <p:sldId id="496" r:id="rId6"/>
    <p:sldId id="497" r:id="rId7"/>
    <p:sldId id="4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7" autoAdjust="0"/>
    <p:restoredTop sz="72928" autoAdjust="0"/>
  </p:normalViewPr>
  <p:slideViewPr>
    <p:cSldViewPr snapToGrid="0" showGuides="1">
      <p:cViewPr>
        <p:scale>
          <a:sx n="77" d="100"/>
          <a:sy n="77" d="100"/>
        </p:scale>
        <p:origin x="960" y="464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3144"/>
    </p:cViewPr>
  </p:notesTextViewPr>
  <p:notesViewPr>
    <p:cSldViewPr snapToGrid="0" showGuides="1">
      <p:cViewPr varScale="1">
        <p:scale>
          <a:sx n="79" d="100"/>
          <a:sy n="79" d="100"/>
        </p:scale>
        <p:origin x="39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07689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 demo: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Gå til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wordnet.dk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slå et ord op (f.eks. "stol"), vis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-siden: 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relationer, 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hypernym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-kæde. Vis at man kan klikke sig rundt i grafen.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0594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1B7AC-2BE9-EEA5-4D2C-A4C0BAE52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3748E-AE56-64B2-B40E-064A827DE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26263-46C5-87E5-288B-5D2CA2FE0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Forklar kort at standarden er bred, fra W3C, og at </a:t>
            </a:r>
            <a:r>
              <a:rPr lang="da-DK" dirty="0" err="1"/>
              <a:t>WordNets</a:t>
            </a:r>
            <a:r>
              <a:rPr lang="da-DK" dirty="0"/>
              <a:t> kun er en del af den (den dækker alle mulige facetter af sproget).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522D4-5B48-0BBA-2F89-CDF5F9384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09070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F2BAC-3968-9B84-1544-5D6C8B5B2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DF9F9-312B-9483-02EE-9A7A87EAE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1342D-DCD6-50A1-EE9D-5D81E6884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08263-7A26-E545-CD7B-715036B89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69479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592D-E8CB-7149-C416-4B918328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9C18D-1450-DCD4-D63C-AED528E09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BCC03-D225-2AB5-9144-48BEC6BA4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  <a:r>
              <a:rPr lang="da-DK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br>
              <a:rPr lang="da-D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taxonomy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similarity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wn.add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("dannet-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lmf.xml.gz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   # indlæs fra lokal fil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wn.Wordnet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             # afgræns til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DanNet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Polysemi: flere veje til samme data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dn.synsets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("land"):         # direkte opslag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ss.definition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w in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dn.words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("tone"):           # via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for sense in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w.senses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():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sense.synset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().definition())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Relationer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dn.synsets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("hund")[0]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ss.hypernyms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ss.hyponyms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Semantisk lighed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ss1 =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dn.synsets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("hund", pos="n")[0]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ss2 =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dn.synsets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("kat", pos="n")[0]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similarity.path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(ss1, ss2))    # 0.25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similarity.wup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(ss1, ss2))     # 0.84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Interlingual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 (kobling til andre sprogs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print(ss1.ili)  # ILI('i46360')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A1328-5713-2B97-3B36-5178F04EC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41500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1ECD-04EE-74B5-4C11-0F0579F6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C2D79-7D63-F99F-81F9-43ABEDDA5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8C415-9ED1-56FC-8FF7-D6680FF64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Vis via SPARQL-editoren på </a:t>
            </a:r>
            <a:r>
              <a:rPr lang="da-DK" dirty="0" err="1"/>
              <a:t>wordnet.dk</a:t>
            </a:r>
            <a:r>
              <a:rPr lang="da-DK" dirty="0"/>
              <a:t>/dannet/</a:t>
            </a:r>
            <a:r>
              <a:rPr lang="da-DK" dirty="0" err="1"/>
              <a:t>sparql</a:t>
            </a:r>
            <a:r>
              <a:rPr lang="da-DK" dirty="0"/>
              <a:t> i stedet for Python.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ADDE4-237C-76BC-7B8D-A940AFD42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1138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35817-6773-E51C-9B8A-82018892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7DE36-C0E4-05B3-3D13-C2E91BE85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9BC7F-A756-B147-BCA1-0116BD0F6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*Nyt koncept for de studerende — hold det praktisk, ikke teoretisk.*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Hvad er SPARQL på 2 minutter: "SQL for grafdata" — subjekt/prædikat/objekt-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tripler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man skriver mønstre som matches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Den interaktive editor på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wordnet.dk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/dannet/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sparql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Gennemgå 2–3 forespørgsler live med stigende kompleksitet: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**Forespørgsel 1** — Find alle betydninger af et ord: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?definition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{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ontolex:evokes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ontolex:canonicalForm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ontolex:writtenRep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guld"@da</a:t>
            </a:r>
            <a:endParaRPr lang="da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OPTIONAL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{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skos:definition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?definition }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</a:t>
            </a:r>
          </a:p>
          <a:p>
            <a:endParaRPr lang="da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**Forespørgsel 1,5 (udvidet)** -&gt; kopier søgesiden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lexfile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?definition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ontotype</a:t>
            </a:r>
            <a:endParaRPr lang="da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{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ontolex:evokes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ontolex:canonicalForm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ontolex:writtenRep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plade"@da</a:t>
            </a:r>
            <a:endParaRPr lang="da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OPTIONAL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{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skos:definition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?definition ;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wn:lexfile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lexfile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;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dns:ontologicalType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ontotype</a:t>
            </a:r>
            <a:endParaRPr lang="da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}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</a:t>
            </a:r>
          </a:p>
          <a:p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**Forespørgsel 2** — Hent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hypernymer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(hvad er det for en slags ting?):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  <a:r>
              <a:rPr lang="da-DK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sparql</a:t>
            </a:r>
            <a:endParaRPr lang="da-DK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hypernym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?label WHERE {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ontolex:canonicalForm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ontolex:writtenRep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hund"@da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ontolex:sense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ontolex:isLexicalizedSenseOf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synset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wn:hypernym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hypernym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?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hypernym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wn:ili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wn:definition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?label .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4345E-B39E-0501-936A-FFC1F272E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6494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image.ku.dk/shared/aZwD18034DnM3TYEw9XagEF6kxI6MLkV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lil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1939100-E010-4143-9AE4-D4252D808A58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3EC545E-1E39-4013-A907-D4C8F3E3A8B4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 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E5195FB-CC23-4662-BC95-6C4057FF490E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 billede stor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9210F5A1-BA4C-C241-930B-E24AB0E14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50C8D61-CF2F-4293-9A1F-6B0C79C373C6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indsætte et billede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4D99FEB-2FC3-4FA6-9F36-280592A4EBA0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indsætte et billede</a:t>
            </a:r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255E55A-4CBD-4745-9CAA-603B15E40F2A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og to indholdsobjek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B7A-445E-4B32-AE33-AE6AFA618291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B346-6D22-4E2E-9D8A-0DE526CBF6C5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da-DK" dirty="0"/>
              <a:t>Klik for at tilføje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A84-DC5F-4F54-86C4-3A3F71268220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da-DK" dirty="0"/>
              <a:t>Klik for at tilføje overskrift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4F1A1-6766-441F-9F00-E93D521E50F3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4256D-1A02-4FDD-AA38-4D8490006FD4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0A4E1C7-F811-4F51-BDA9-17EBB9618420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o bulletli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tilføj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2</a:t>
            </a:r>
          </a:p>
          <a:p>
            <a:pPr lvl="2"/>
            <a:r>
              <a:rPr lang="da-DK" dirty="0"/>
              <a:t>3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8259-92F1-4C32-A312-C73CE2167131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79C41-6576-A494-B4DF-8A34076DB9A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én bullet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5082-3ECA-430B-8AFE-6C0254841555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a-DK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Navn, kilde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2271-5E3D-4E06-BC0A-7C1022408CCC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93FE-D5FA-4E0E-8FFF-8F10D57A1EC1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da-DK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da-DK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76D0-1C54-4AA2-B3C6-9EDE760637A2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4ADEF-11A6-3C5E-1BA5-4CA81A2F71C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19F3-EBEC-4665-8131-8E409DE99ADE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indsætte tekst...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da-DK" dirty="0"/>
              <a:t>...klik for at indsætte tekst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65C0B-FFD6-8BEB-537E-1AEDA679D666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2B9D2-A192-42E6-9020-F3EAB57A6114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D2255-9E79-5D04-C4A9-288BF0CCD6B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le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9CB1-FD99-442F-B632-7502FA9A3C45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overskrift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høj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6D48-5B3F-4C59-A9D8-68D0A39D6CD2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vens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5CAA0-42C1-41A7-86CE-BA2D8D2C2EF0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804492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073E-A784-466B-98E2-8BDE3F08A73A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277BB-5254-1D84-EA0B-F5AF633F0933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92E9-ED6E-4E2D-9447-0E7DB3FDA12F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DB20F-CD30-3447-301A-903E5BC5BED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804492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D7C1D-A477-4C13-845F-4C5AC4DEDF20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5C28F-4EA0-040C-C6B4-A14FC010CCCE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bg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2DB-13B5-430F-8C6F-F11F20BF0D18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58AF7-9740-8AD8-0C21-42A01D82832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DEF25-ACCC-4F90-BF7A-77B4DDE7678A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727BB-AC18-C435-CD32-52483CA4B11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ørgsmål &amp; kommentar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8B2A5-1DCC-48EA-93B7-A2D65B200BE6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da-DK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 sz="3000" dirty="0">
                <a:solidFill>
                  <a:schemeClr val="tx1"/>
                </a:solidFill>
              </a:rPr>
              <a:t>Brugerguide</a:t>
            </a:r>
            <a:r>
              <a:rPr lang="da-DK" baseline="0" dirty="0">
                <a:solidFill>
                  <a:schemeClr val="tx1"/>
                </a:solidFill>
              </a:rPr>
              <a:t> </a:t>
            </a:r>
            <a:r>
              <a:rPr lang="da-DK" sz="1800" baseline="0" dirty="0">
                <a:solidFill>
                  <a:schemeClr val="tx1"/>
                </a:solidFill>
              </a:rPr>
              <a:t>– </a:t>
            </a:r>
            <a:r>
              <a:rPr lang="da-DK" sz="1800" dirty="0">
                <a:solidFill>
                  <a:schemeClr val="tx1"/>
                </a:solidFill>
              </a:rPr>
              <a:t>Slet, før du færdiggør din</a:t>
            </a:r>
            <a:r>
              <a:rPr lang="da-DK" sz="1800" baseline="0" dirty="0">
                <a:solidFill>
                  <a:schemeClr val="tx1"/>
                </a:solidFill>
              </a:rPr>
              <a:t> </a:t>
            </a:r>
            <a:r>
              <a:rPr lang="da-DK" sz="1800" dirty="0">
                <a:solidFill>
                  <a:schemeClr val="tx1"/>
                </a:solidFill>
              </a:rPr>
              <a:t>præsentation</a:t>
            </a:r>
          </a:p>
        </p:txBody>
      </p:sp>
      <p:sp>
        <p:nvSpPr>
          <p:cNvPr id="48" name="Text Box 48"/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42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KU-skabeloner til PowerPoint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åbner PowerPoint på din KU-pc, åbner en skabelon i 16:9-format og med dansk KU-logo.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klikker på KU-fanen i værktøjslinjen, kan du via knappen ”Vælg Skabelon” vælge mellem skabeloner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 henholdsvis dansk og engelsk 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”fuld” eller ”lille” version (i den fulde version ser du et eksempel på hver diastype i venstrespalten)</a:t>
            </a:r>
          </a:p>
          <a:p>
            <a:pPr marL="88900" lvl="0" indent="-88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samt en demopræsentation med indsat tekst på engelsk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 du bruger en ”fuld” version, skal du slette de dias, du ikke vil bruge.</a:t>
            </a: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Mac-brugere m.fl. kan hente PowerPoint-skabelonerne på</a:t>
            </a:r>
            <a:r>
              <a:rPr lang="da-DK" sz="800" baseline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</a:t>
            </a:r>
            <a:b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da-DK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 Box 48"/>
          <p:cNvSpPr txBox="1">
            <a:spLocks noChangeArrowheads="1"/>
          </p:cNvSpPr>
          <p:nvPr userDrawn="1"/>
        </p:nvSpPr>
        <p:spPr bwMode="auto">
          <a:xfrm>
            <a:off x="2576655" y="4237555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 din enheds navn (fx institut), sidenummer og dato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Indsæt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topmenuen 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Sidehoved og Sidefod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Udfyld felterne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 på alle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 eller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hvis det kun skal være på et enkelt dias/slide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Oplysningerne placeres i højre side af den grå topbjælke.</a:t>
            </a:r>
          </a:p>
        </p:txBody>
      </p:sp>
      <p:sp>
        <p:nvSpPr>
          <p:cNvPr id="50" name="Text Box 48"/>
          <p:cNvSpPr txBox="1">
            <a:spLocks noChangeArrowheads="1"/>
          </p:cNvSpPr>
          <p:nvPr userDrawn="1"/>
        </p:nvSpPr>
        <p:spPr bwMode="auto">
          <a:xfrm>
            <a:off x="587375" y="5678667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Lav nyt dias/slide (hhv. 2010- + 2013- og 2016-version) 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</p:txBody>
      </p:sp>
      <p:pic>
        <p:nvPicPr>
          <p:cNvPr id="51" name="Billede 40"/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940574"/>
            <a:ext cx="395416" cy="126627"/>
          </a:xfrm>
          <a:prstGeom prst="rect">
            <a:avLst/>
          </a:prstGeom>
        </p:spPr>
      </p:pic>
      <p:sp>
        <p:nvSpPr>
          <p:cNvPr id="52" name="Text Box 48"/>
          <p:cNvSpPr txBox="1">
            <a:spLocks noChangeArrowheads="1"/>
          </p:cNvSpPr>
          <p:nvPr userDrawn="1"/>
        </p:nvSpPr>
        <p:spPr bwMode="auto">
          <a:xfrm>
            <a:off x="2587038" y="2582327"/>
            <a:ext cx="1624241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Diastype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Vælg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dit nuværende dias/slide til et alternativt layout</a:t>
            </a:r>
          </a:p>
        </p:txBody>
      </p:sp>
      <p:sp>
        <p:nvSpPr>
          <p:cNvPr id="53" name="Text Box 48"/>
          <p:cNvSpPr txBox="1">
            <a:spLocks noChangeArrowheads="1"/>
          </p:cNvSpPr>
          <p:nvPr userDrawn="1"/>
        </p:nvSpPr>
        <p:spPr bwMode="auto">
          <a:xfrm>
            <a:off x="2576655" y="3571524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Skrift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 Anvender skriften Microsoft New Tai Lue i PowerPoint.</a:t>
            </a:r>
            <a:endParaRPr lang="da-DK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4" name="Text Box 48"/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se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Klik på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Gitterlinjer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og/eller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etablere flere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Før musen over en eksisterende hjælpelinje og klik på linjen (koordinater på linjen vises)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nede, mens du flytter placeringen af den eksisterende linje (tilføjer en ny)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Tryk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Alt + F9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hurtig visning af hjælpelinjer</a:t>
            </a:r>
          </a:p>
        </p:txBody>
      </p:sp>
      <p:sp>
        <p:nvSpPr>
          <p:cNvPr id="55" name="Text Box 48"/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192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På layouts med billedholder: Klik på ikon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Teksten ”Klik her, hvis du vil udskifte billedet” bliver ikke vist i din præsentation.  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hente KU-billeder, som er tilpasset og minimeret til 16:9-format via dette link:</a:t>
            </a:r>
            <a:b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https://image.ku.dk/shared/aZwD18034DnM3TYEw9XagEF6kxI6MLkV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slideshow-visning for at gøre linket aktivt.</a:t>
            </a:r>
          </a:p>
        </p:txBody>
      </p:sp>
      <p:sp>
        <p:nvSpPr>
          <p:cNvPr id="56" name="Text Box 48"/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Billedstørrelser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 optimale billedstørrelser 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Gem billederne i 72 dpi og i ”jpg-medium-kvalitet”</a:t>
            </a:r>
          </a:p>
        </p:txBody>
      </p:sp>
      <p:sp>
        <p:nvSpPr>
          <p:cNvPr id="57" name="Text Box 48"/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Klik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at ændre billedets fokus/størrelse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Ønsker du at skalere billedet, så 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-knappen nede, mens du trækker i billedets hjørner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billedet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</p:txBody>
      </p:sp>
      <p:sp>
        <p:nvSpPr>
          <p:cNvPr id="58" name="Text Box 48"/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88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Skabelonens farver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vælge mellem en række farver til baggrunde og grafer.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den flade, du vil skifte farve på, og derefter malerbøtte-ikonet (Fyldfarve til figur)</a:t>
            </a:r>
          </a:p>
        </p:txBody>
      </p:sp>
      <p:sp>
        <p:nvSpPr>
          <p:cNvPr id="59" name="Text Box 48"/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Mere information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</a:t>
            </a:r>
            <a: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designguiden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på</a:t>
            </a:r>
            <a:b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</a:t>
            </a:r>
            <a:b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0" name="Billede 2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61" name="Billede 3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62" name="Billede 3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63" name="Text Box 48"/>
          <p:cNvSpPr txBox="1">
            <a:spLocks noChangeArrowheads="1"/>
          </p:cNvSpPr>
          <p:nvPr userDrawn="1"/>
        </p:nvSpPr>
        <p:spPr bwMode="auto">
          <a:xfrm>
            <a:off x="2564067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knappen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Nyt dias/Nyt slide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på øverste del af knappen for at oprette i et dias/slide magen til det markerede. Klik på nederste del for at se et udvalg af mulige layoutvalg</a:t>
            </a:r>
            <a:endParaRPr lang="da-DK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4" name="Billede 39"/>
          <p:cNvPicPr>
            <a:picLocks noChangeAspect="1"/>
          </p:cNvPicPr>
          <p:nvPr userDrawn="1"/>
        </p:nvPicPr>
        <p:blipFill rotWithShape="1">
          <a:blip r:embed="rId3"/>
          <a:srcRect l="2931" r="60888"/>
          <a:stretch/>
        </p:blipFill>
        <p:spPr>
          <a:xfrm>
            <a:off x="4231619" y="1844048"/>
            <a:ext cx="235367" cy="418987"/>
          </a:xfrm>
          <a:prstGeom prst="rect">
            <a:avLst/>
          </a:prstGeom>
        </p:spPr>
      </p:pic>
      <p:sp>
        <p:nvSpPr>
          <p:cNvPr id="65" name="Freeform 10"/>
          <p:cNvSpPr>
            <a:spLocks noChangeAspect="1"/>
          </p:cNvSpPr>
          <p:nvPr userDrawn="1"/>
        </p:nvSpPr>
        <p:spPr>
          <a:xfrm rot="19800000">
            <a:off x="4404080" y="1900198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66" name="Freeform 10"/>
          <p:cNvSpPr>
            <a:spLocks noChangeAspect="1"/>
          </p:cNvSpPr>
          <p:nvPr userDrawn="1"/>
        </p:nvSpPr>
        <p:spPr>
          <a:xfrm rot="19800000">
            <a:off x="4416414" y="2138150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FA96AD4B-435A-4D0A-87A0-F4000646B7B6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8" y="96467"/>
            <a:ext cx="2346641" cy="159521"/>
          </a:xfrm>
          <a:prstGeom prst="rect">
            <a:avLst/>
          </a:prstGeom>
        </p:spPr>
      </p:pic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7A056A0C-BA80-48B5-9C35-4A96F80DBB77}" type="datetime1">
              <a:rPr lang="da-DK" smtClean="0"/>
              <a:t>10.04.2026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dmami/w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DFLib/rdflib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net.dk/dannet/sparq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4A27-B96F-FF49-952F-8EF3F8AA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70F0-8F8E-46A3-BFFE-96163F9D413B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56401-0EC4-5C4E-B05C-BACA002C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EA49827-CE52-FD4B-8399-162D5E1DD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5F9F9FB-61AF-8548-83E5-79EB62A8C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964" y="1108038"/>
            <a:ext cx="4946648" cy="726435"/>
          </a:xfrm>
        </p:spPr>
        <p:txBody>
          <a:bodyPr/>
          <a:lstStyle/>
          <a:p>
            <a:r>
              <a:rPr lang="da-DK" b="0" dirty="0"/>
              <a:t>Praktisk brug af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D5F85F-0777-314B-A8CB-A12F7D46B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b="0" dirty="0"/>
              <a:t>Simon Gray,</a:t>
            </a:r>
            <a:br>
              <a:rPr lang="da-DK" b="0" dirty="0"/>
            </a:br>
            <a:r>
              <a:rPr lang="da-DK" b="0" dirty="0"/>
              <a:t>Center for Sprogteknologi</a:t>
            </a:r>
          </a:p>
          <a:p>
            <a:br>
              <a:rPr lang="da-DK" b="0" dirty="0"/>
            </a:br>
            <a:r>
              <a:rPr lang="da-DK" b="0" dirty="0"/>
              <a:t>14.4.2026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66DD5E5-6EC3-525E-AA13-AAF1F5422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961" y="1751673"/>
            <a:ext cx="4946645" cy="177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6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B21E33B9-1FB5-A032-EA58-5CD09DF70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435" y="382385"/>
            <a:ext cx="6475615" cy="6475615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445D791-CCB3-1E41-9275-846295D5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da-DK" dirty="0"/>
              <a:t>Hvad er </a:t>
            </a:r>
            <a:r>
              <a:rPr lang="da-DK" dirty="0" err="1"/>
              <a:t>DanNet</a:t>
            </a:r>
            <a:r>
              <a:rPr lang="da-DK" dirty="0"/>
              <a:t>, helt konkret?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54480-C453-0249-AF66-494D6C878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5"/>
            <a:ext cx="5356800" cy="4672800"/>
          </a:xfrm>
        </p:spPr>
        <p:txBody>
          <a:bodyPr>
            <a:normAutofit/>
          </a:bodyPr>
          <a:lstStyle/>
          <a:p>
            <a:r>
              <a:rPr lang="da-DK" sz="2000" i="1" dirty="0"/>
              <a:t>”Det danske </a:t>
            </a:r>
            <a:r>
              <a:rPr lang="da-DK" sz="2000" i="1" dirty="0" err="1"/>
              <a:t>WordNet</a:t>
            </a:r>
            <a:r>
              <a:rPr lang="da-DK" sz="2000" i="1" dirty="0"/>
              <a:t>”</a:t>
            </a:r>
          </a:p>
          <a:p>
            <a:pPr lvl="1"/>
            <a:r>
              <a:rPr lang="da-DK" dirty="0"/>
              <a:t>~70K </a:t>
            </a:r>
            <a:r>
              <a:rPr lang="da-DK" b="1" dirty="0" err="1"/>
              <a:t>synsets</a:t>
            </a:r>
            <a:endParaRPr lang="da-DK" b="1" dirty="0"/>
          </a:p>
          <a:p>
            <a:pPr lvl="1"/>
            <a:r>
              <a:rPr lang="da-DK" dirty="0"/>
              <a:t>~62K </a:t>
            </a:r>
            <a:r>
              <a:rPr lang="da-DK" b="1" dirty="0"/>
              <a:t>ord</a:t>
            </a:r>
          </a:p>
          <a:p>
            <a:pPr lvl="1"/>
            <a:r>
              <a:rPr lang="da-DK" dirty="0"/>
              <a:t>~280K </a:t>
            </a:r>
            <a:r>
              <a:rPr lang="da-DK" b="1" dirty="0"/>
              <a:t>semantiske relationer</a:t>
            </a:r>
          </a:p>
          <a:p>
            <a:pPr lvl="2"/>
            <a:r>
              <a:rPr lang="da-DK" sz="2000" dirty="0"/>
              <a:t>med inferens: ½ million</a:t>
            </a:r>
          </a:p>
          <a:p>
            <a:r>
              <a:rPr lang="da-DK" sz="2000" dirty="0"/>
              <a:t>Bygget på </a:t>
            </a:r>
            <a:r>
              <a:rPr lang="da-DK" sz="2000" b="1" dirty="0"/>
              <a:t>internationale standarder</a:t>
            </a:r>
          </a:p>
          <a:p>
            <a:pPr lvl="1"/>
            <a:r>
              <a:rPr lang="da-DK" dirty="0"/>
              <a:t>integreres let med andre ressourcer</a:t>
            </a:r>
          </a:p>
          <a:p>
            <a:r>
              <a:rPr lang="da-DK" sz="2000" dirty="0"/>
              <a:t>Eksisterende integrationer:</a:t>
            </a:r>
          </a:p>
          <a:p>
            <a:pPr lvl="1"/>
            <a:r>
              <a:rPr lang="da-DK" b="1" dirty="0"/>
              <a:t>COR</a:t>
            </a:r>
            <a:r>
              <a:rPr lang="da-DK" dirty="0"/>
              <a:t> (Det Centrale Ordregister)</a:t>
            </a:r>
          </a:p>
          <a:p>
            <a:pPr lvl="1"/>
            <a:r>
              <a:rPr lang="da-DK" b="1" dirty="0"/>
              <a:t>DDS</a:t>
            </a:r>
            <a:r>
              <a:rPr lang="da-DK" dirty="0"/>
              <a:t> (Det Danske </a:t>
            </a:r>
            <a:r>
              <a:rPr lang="da-DK" dirty="0" err="1"/>
              <a:t>Sentimentleksikon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Open English </a:t>
            </a:r>
            <a:r>
              <a:rPr lang="da-DK" dirty="0" err="1"/>
              <a:t>WordNet</a:t>
            </a:r>
            <a:r>
              <a:rPr lang="da-DK" dirty="0"/>
              <a:t> (delvist)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716D6-12A9-6848-9732-186C35C7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6FFD22D-F364-4E9E-AF9D-75D698CDD634}" type="datetime1">
              <a:rPr lang="da-DK" smtClean="0"/>
              <a:pPr>
                <a:spcAft>
                  <a:spcPts val="600"/>
                </a:spcAft>
              </a:pPr>
              <a:t>10.04.2026</a:t>
            </a:fld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9EDD3-1818-064E-95C1-FCEF1BC9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957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3867-B092-BCB6-87FD-5B8A18BE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F7DD5-9653-95F7-1FFA-21F705C0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Ontolex</a:t>
            </a:r>
            <a:r>
              <a:rPr lang="da-DK" dirty="0"/>
              <a:t>-standarden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6E033-F41F-614B-565B-6FAD0142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D22D-F364-4E9E-AF9D-75D698CDD634}" type="datetime1">
              <a:rPr lang="da-DK" smtClean="0"/>
              <a:t>10.04.2026</a:t>
            </a:fld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70D333-E006-4E8E-8034-EAE20451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3</a:t>
            </a:fld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182E7DE-0914-47AC-1935-980A70BAEA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2374" y="1242606"/>
            <a:ext cx="6852530" cy="4986742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7E9907DE-5796-2984-8A3E-9BEBCA6B62CF}"/>
              </a:ext>
            </a:extLst>
          </p:cNvPr>
          <p:cNvSpPr txBox="1"/>
          <p:nvPr/>
        </p:nvSpPr>
        <p:spPr>
          <a:xfrm>
            <a:off x="6240373" y="1366801"/>
            <a:ext cx="81229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dirty="0">
                <a:solidFill>
                  <a:schemeClr val="accent6"/>
                </a:solidFill>
              </a:rPr>
              <a:t>Word</a:t>
            </a:r>
            <a:endParaRPr lang="da-DK" sz="2400" b="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A8584869-37A9-E884-F9C4-C642E236601F}"/>
              </a:ext>
            </a:extLst>
          </p:cNvPr>
          <p:cNvSpPr txBox="1"/>
          <p:nvPr/>
        </p:nvSpPr>
        <p:spPr>
          <a:xfrm>
            <a:off x="1778924" y="3571555"/>
            <a:ext cx="916437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dirty="0" err="1">
                <a:solidFill>
                  <a:schemeClr val="accent3"/>
                </a:solidFill>
              </a:rPr>
              <a:t>Synset</a:t>
            </a:r>
            <a:endParaRPr lang="da-DK" sz="2400" b="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398F759F-9288-3BF0-F577-257E79AF8867}"/>
              </a:ext>
            </a:extLst>
          </p:cNvPr>
          <p:cNvSpPr txBox="1"/>
          <p:nvPr/>
        </p:nvSpPr>
        <p:spPr>
          <a:xfrm>
            <a:off x="8816084" y="3571555"/>
            <a:ext cx="76017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dirty="0">
                <a:solidFill>
                  <a:schemeClr val="accent1"/>
                </a:solidFill>
              </a:rPr>
              <a:t>Form</a:t>
            </a:r>
            <a:endParaRPr lang="da-DK" sz="2400" b="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CD43D2B1-DE3A-3BDC-806A-EDF63D5D5836}"/>
              </a:ext>
            </a:extLst>
          </p:cNvPr>
          <p:cNvSpPr txBox="1"/>
          <p:nvPr/>
        </p:nvSpPr>
        <p:spPr>
          <a:xfrm>
            <a:off x="5366999" y="5792883"/>
            <a:ext cx="873373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dirty="0">
                <a:solidFill>
                  <a:schemeClr val="accent5"/>
                </a:solidFill>
              </a:rPr>
              <a:t>Sense</a:t>
            </a:r>
            <a:endParaRPr lang="da-DK" sz="2400" b="0" dirty="0">
              <a:solidFill>
                <a:schemeClr val="accent5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282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21EE-BEC1-D335-6139-572A06F2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8471D0-78BF-49BF-A65B-A78D9C46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da-DK" dirty="0"/>
              <a:t>Måder at tilgå </a:t>
            </a:r>
            <a:r>
              <a:rPr lang="da-DK" dirty="0" err="1"/>
              <a:t>DanNet</a:t>
            </a:r>
            <a:endParaRPr lang="da-DK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6D51C3-2382-BECB-EAEE-1CCC025B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6FFD22D-F364-4E9E-AF9D-75D698CDD634}" type="datetime1">
              <a:rPr lang="da-DK" smtClean="0"/>
              <a:pPr>
                <a:spcAft>
                  <a:spcPts val="600"/>
                </a:spcAft>
              </a:pPr>
              <a:t>10.04.2026</a:t>
            </a:fld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33CB37-33B3-9899-2FCB-D4912FF4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4</a:t>
            </a:fld>
            <a:endParaRPr lang="da-DK"/>
          </a:p>
        </p:txBody>
      </p:sp>
      <p:grpSp>
        <p:nvGrpSpPr>
          <p:cNvPr id="36" name="Gruppe 35">
            <a:extLst>
              <a:ext uri="{FF2B5EF4-FFF2-40B4-BE49-F238E27FC236}">
                <a16:creationId xmlns:a16="http://schemas.microsoft.com/office/drawing/2014/main" id="{3CA9468E-DC92-7FA2-881B-5EB9D44C0A61}"/>
              </a:ext>
            </a:extLst>
          </p:cNvPr>
          <p:cNvGrpSpPr/>
          <p:nvPr/>
        </p:nvGrpSpPr>
        <p:grpSpPr>
          <a:xfrm>
            <a:off x="500062" y="-300549"/>
            <a:ext cx="5093872" cy="6537835"/>
            <a:chOff x="500062" y="-300549"/>
            <a:chExt cx="5093872" cy="6537835"/>
          </a:xfrm>
        </p:grpSpPr>
        <p:pic>
          <p:nvPicPr>
            <p:cNvPr id="14" name="Billede 13">
              <a:extLst>
                <a:ext uri="{FF2B5EF4-FFF2-40B4-BE49-F238E27FC236}">
                  <a16:creationId xmlns:a16="http://schemas.microsoft.com/office/drawing/2014/main" id="{190EC0FE-25F1-5FBB-6F58-34055A25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062" y="3611763"/>
              <a:ext cx="2625523" cy="2625523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75D40E1C-A034-766C-C5F8-2C929A5D37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8964" y="-300549"/>
              <a:ext cx="5004970" cy="5004970"/>
            </a:xfrm>
            <a:prstGeom prst="rect">
              <a:avLst/>
            </a:prstGeom>
          </p:spPr>
        </p:pic>
      </p:grpSp>
      <p:grpSp>
        <p:nvGrpSpPr>
          <p:cNvPr id="35" name="Gruppe 34">
            <a:extLst>
              <a:ext uri="{FF2B5EF4-FFF2-40B4-BE49-F238E27FC236}">
                <a16:creationId xmlns:a16="http://schemas.microsoft.com/office/drawing/2014/main" id="{10FF939F-F9AA-91DF-D8CF-645E1048C7FF}"/>
              </a:ext>
            </a:extLst>
          </p:cNvPr>
          <p:cNvGrpSpPr/>
          <p:nvPr/>
        </p:nvGrpSpPr>
        <p:grpSpPr>
          <a:xfrm>
            <a:off x="4151740" y="1053307"/>
            <a:ext cx="7449710" cy="5183979"/>
            <a:chOff x="4151740" y="1053307"/>
            <a:chExt cx="7449710" cy="5183979"/>
          </a:xfrm>
        </p:grpSpPr>
        <p:pic>
          <p:nvPicPr>
            <p:cNvPr id="22" name="Billede 21">
              <a:extLst>
                <a:ext uri="{FF2B5EF4-FFF2-40B4-BE49-F238E27FC236}">
                  <a16:creationId xmlns:a16="http://schemas.microsoft.com/office/drawing/2014/main" id="{C012D1AA-B09F-C53D-5BC1-504658361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1740" y="5340638"/>
              <a:ext cx="4178556" cy="896648"/>
            </a:xfrm>
            <a:prstGeom prst="rect">
              <a:avLst/>
            </a:prstGeom>
          </p:spPr>
        </p:pic>
        <p:pic>
          <p:nvPicPr>
            <p:cNvPr id="24" name="Billede 23">
              <a:extLst>
                <a:ext uri="{FF2B5EF4-FFF2-40B4-BE49-F238E27FC236}">
                  <a16:creationId xmlns:a16="http://schemas.microsoft.com/office/drawing/2014/main" id="{05E0B50B-F22E-CDE9-E205-28455397B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42994" y="1053307"/>
              <a:ext cx="2558456" cy="2558456"/>
            </a:xfrm>
            <a:prstGeom prst="rect">
              <a:avLst/>
            </a:prstGeom>
          </p:spPr>
        </p:pic>
      </p:grpSp>
      <p:grpSp>
        <p:nvGrpSpPr>
          <p:cNvPr id="34" name="Gruppe 33">
            <a:extLst>
              <a:ext uri="{FF2B5EF4-FFF2-40B4-BE49-F238E27FC236}">
                <a16:creationId xmlns:a16="http://schemas.microsoft.com/office/drawing/2014/main" id="{98D6922C-F35A-BA9B-0300-308F6F40AEB6}"/>
              </a:ext>
            </a:extLst>
          </p:cNvPr>
          <p:cNvGrpSpPr/>
          <p:nvPr/>
        </p:nvGrpSpPr>
        <p:grpSpPr>
          <a:xfrm>
            <a:off x="3756278" y="1054862"/>
            <a:ext cx="4428207" cy="3649559"/>
            <a:chOff x="3756278" y="1054862"/>
            <a:chExt cx="4428207" cy="3649559"/>
          </a:xfrm>
        </p:grpSpPr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84492FC8-23FD-FB49-35C7-DC7CF32BC8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56278" y="3422364"/>
              <a:ext cx="4178556" cy="1282057"/>
            </a:xfrm>
            <a:prstGeom prst="rect">
              <a:avLst/>
            </a:prstGeom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6160CCB2-87E4-1F7A-E1DA-FC704022B8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53199" y="1054862"/>
              <a:ext cx="1731286" cy="1731286"/>
            </a:xfrm>
            <a:prstGeom prst="rect">
              <a:avLst/>
            </a:prstGeom>
          </p:spPr>
        </p:pic>
      </p:grpSp>
      <p:grpSp>
        <p:nvGrpSpPr>
          <p:cNvPr id="33" name="Gruppe 32">
            <a:extLst>
              <a:ext uri="{FF2B5EF4-FFF2-40B4-BE49-F238E27FC236}">
                <a16:creationId xmlns:a16="http://schemas.microsoft.com/office/drawing/2014/main" id="{5DE13CEB-AE3F-22F7-5341-9448BBBC6305}"/>
              </a:ext>
            </a:extLst>
          </p:cNvPr>
          <p:cNvGrpSpPr/>
          <p:nvPr/>
        </p:nvGrpSpPr>
        <p:grpSpPr>
          <a:xfrm>
            <a:off x="8581917" y="3761556"/>
            <a:ext cx="3110021" cy="2607702"/>
            <a:chOff x="8581917" y="3761556"/>
            <a:chExt cx="3110021" cy="2607702"/>
          </a:xfrm>
        </p:grpSpPr>
        <p:pic>
          <p:nvPicPr>
            <p:cNvPr id="32" name="Billede 31">
              <a:extLst>
                <a:ext uri="{FF2B5EF4-FFF2-40B4-BE49-F238E27FC236}">
                  <a16:creationId xmlns:a16="http://schemas.microsoft.com/office/drawing/2014/main" id="{7FB2251A-97A6-0F46-3A18-044F3DBBE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8581917" y="3761556"/>
              <a:ext cx="1747194" cy="1747194"/>
            </a:xfrm>
            <a:prstGeom prst="rect">
              <a:avLst/>
            </a:prstGeom>
          </p:spPr>
        </p:pic>
        <p:pic>
          <p:nvPicPr>
            <p:cNvPr id="30" name="Billede 29">
              <a:extLst>
                <a:ext uri="{FF2B5EF4-FFF2-40B4-BE49-F238E27FC236}">
                  <a16:creationId xmlns:a16="http://schemas.microsoft.com/office/drawing/2014/main" id="{B4D1D689-1D83-ACCC-75D7-2676A7CDC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608072" y="4285392"/>
              <a:ext cx="2083866" cy="20838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366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CCD6-DF40-7508-71ED-F49A4D33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1CC83B-51B3-ABB6-069B-3585EFD11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da-DK" dirty="0"/>
              <a:t>Adgangsmetode 1: Python + WN-LMF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33C22D-F999-1287-E427-6C67ECE26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5"/>
            <a:ext cx="6493480" cy="4672800"/>
          </a:xfrm>
        </p:spPr>
        <p:txBody>
          <a:bodyPr>
            <a:normAutofit/>
          </a:bodyPr>
          <a:lstStyle/>
          <a:p>
            <a:r>
              <a:rPr lang="da-DK" dirty="0"/>
              <a:t>Python-biblioteket </a:t>
            </a:r>
            <a:r>
              <a:rPr lang="da-DK" b="1" dirty="0" err="1"/>
              <a:t>wn</a:t>
            </a:r>
            <a:endParaRPr lang="da-DK" b="1" dirty="0"/>
          </a:p>
          <a:p>
            <a:pPr lvl="1"/>
            <a:r>
              <a:rPr lang="da-DK" dirty="0">
                <a:hlinkClick r:id="rId3"/>
              </a:rPr>
              <a:t>github.com/goodmami/wn</a:t>
            </a:r>
            <a:endParaRPr lang="da-DK" dirty="0"/>
          </a:p>
          <a:p>
            <a:pPr lvl="1"/>
            <a:r>
              <a:rPr lang="da-DK" dirty="0"/>
              <a:t>Minder om </a:t>
            </a:r>
            <a:r>
              <a:rPr lang="da-DK" dirty="0" err="1"/>
              <a:t>API’en</a:t>
            </a:r>
            <a:r>
              <a:rPr lang="da-DK" dirty="0"/>
              <a:t> fra </a:t>
            </a:r>
            <a:r>
              <a:rPr lang="da-DK" b="1" dirty="0"/>
              <a:t>NLTK</a:t>
            </a:r>
          </a:p>
          <a:p>
            <a:r>
              <a:rPr lang="da-DK" dirty="0" err="1"/>
              <a:t>DanNets</a:t>
            </a:r>
            <a:r>
              <a:rPr lang="da-DK" dirty="0"/>
              <a:t> </a:t>
            </a:r>
            <a:r>
              <a:rPr lang="da-DK" b="1" dirty="0"/>
              <a:t>WN-LMF</a:t>
            </a:r>
            <a:r>
              <a:rPr lang="da-DK" dirty="0"/>
              <a:t>-format</a:t>
            </a:r>
          </a:p>
          <a:p>
            <a:pPr lvl="1"/>
            <a:r>
              <a:rPr lang="da-DK" dirty="0"/>
              <a:t>XML-baseret standardformat til </a:t>
            </a:r>
            <a:r>
              <a:rPr lang="da-DK" dirty="0" err="1"/>
              <a:t>WordNet</a:t>
            </a:r>
            <a:r>
              <a:rPr lang="da-DK" dirty="0"/>
              <a:t>-data</a:t>
            </a:r>
          </a:p>
          <a:p>
            <a:pPr lvl="1"/>
            <a:r>
              <a:rPr lang="da-DK" b="1" dirty="0"/>
              <a:t>BEMÆRK</a:t>
            </a:r>
            <a:r>
              <a:rPr lang="da-DK" dirty="0"/>
              <a:t>: mangler </a:t>
            </a:r>
            <a:r>
              <a:rPr lang="da-DK" dirty="0" err="1"/>
              <a:t>DanNet</a:t>
            </a:r>
            <a:r>
              <a:rPr lang="da-DK" dirty="0"/>
              <a:t>-specifikke relationer!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21813-71D0-0789-9E17-24AA92BE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6FFD22D-F364-4E9E-AF9D-75D698CDD634}" type="datetime1">
              <a:rPr lang="da-DK" smtClean="0"/>
              <a:pPr>
                <a:spcAft>
                  <a:spcPts val="600"/>
                </a:spcAft>
              </a:pPr>
              <a:t>10.04.2026</a:t>
            </a:fld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8CC6D-DEB5-8992-6321-A485A676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5</a:t>
            </a:fld>
            <a:endParaRPr lang="da-DK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B37EC8EB-8003-C047-BE20-AA46B5F51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1053307"/>
            <a:ext cx="55753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2E3B-5C23-FB8E-9286-7EF2A1C6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75E46C-AF85-49B9-FDEC-65F800D04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da-DK" dirty="0"/>
              <a:t>Adgangsmetode 2: Python + RDF + SPARQL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B6E146-588A-235C-99A7-2A373C62B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3" y="1628775"/>
            <a:ext cx="4298921" cy="4672800"/>
          </a:xfrm>
        </p:spPr>
        <p:txBody>
          <a:bodyPr>
            <a:normAutofit/>
          </a:bodyPr>
          <a:lstStyle/>
          <a:p>
            <a:r>
              <a:rPr lang="da-DK" dirty="0"/>
              <a:t>Python-biblioteket </a:t>
            </a:r>
            <a:r>
              <a:rPr lang="da-DK" b="1" dirty="0" err="1"/>
              <a:t>rdflib</a:t>
            </a:r>
            <a:endParaRPr lang="da-DK" b="1" dirty="0"/>
          </a:p>
          <a:p>
            <a:pPr lvl="1"/>
            <a:r>
              <a:rPr lang="da-DK" dirty="0">
                <a:hlinkClick r:id="rId3"/>
              </a:rPr>
              <a:t>github.com/RDFLib/rdflib</a:t>
            </a:r>
            <a:endParaRPr lang="da-DK" dirty="0"/>
          </a:p>
          <a:p>
            <a:r>
              <a:rPr lang="da-DK" dirty="0" err="1"/>
              <a:t>DanNets</a:t>
            </a:r>
            <a:r>
              <a:rPr lang="da-DK" dirty="0"/>
              <a:t> </a:t>
            </a:r>
            <a:r>
              <a:rPr lang="da-DK" b="1" dirty="0" err="1"/>
              <a:t>Turtle</a:t>
            </a:r>
            <a:r>
              <a:rPr lang="da-DK" dirty="0"/>
              <a:t>-format</a:t>
            </a:r>
          </a:p>
          <a:p>
            <a:pPr lvl="1"/>
            <a:r>
              <a:rPr lang="da-DK" dirty="0"/>
              <a:t>Det mest almindelige format til at gemme RDF</a:t>
            </a:r>
          </a:p>
          <a:p>
            <a:pPr lvl="1"/>
            <a:r>
              <a:rPr lang="da-DK" dirty="0"/>
              <a:t>Indeholder </a:t>
            </a:r>
            <a:r>
              <a:rPr lang="da-DK" b="1" dirty="0"/>
              <a:t>ALLE</a:t>
            </a:r>
            <a:r>
              <a:rPr lang="da-DK" dirty="0"/>
              <a:t> rå datapunkter</a:t>
            </a:r>
          </a:p>
          <a:p>
            <a:r>
              <a:rPr lang="da-DK" b="1" dirty="0"/>
              <a:t>SPARQL</a:t>
            </a:r>
            <a:r>
              <a:rPr lang="da-DK" dirty="0"/>
              <a:t>-kode</a:t>
            </a:r>
          </a:p>
          <a:p>
            <a:pPr lvl="1"/>
            <a:r>
              <a:rPr lang="da-DK" dirty="0"/>
              <a:t>Minder lidt om SQL</a:t>
            </a:r>
          </a:p>
          <a:p>
            <a:pPr lvl="1"/>
            <a:r>
              <a:rPr lang="da-DK" dirty="0"/>
              <a:t>Matcher mønstre i en graf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D43455-9F3C-843B-27B7-429C52E9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6FFD22D-F364-4E9E-AF9D-75D698CDD634}" type="datetime1">
              <a:rPr lang="da-DK" smtClean="0"/>
              <a:pPr>
                <a:spcAft>
                  <a:spcPts val="600"/>
                </a:spcAft>
              </a:pPr>
              <a:t>10.04.2026</a:t>
            </a:fld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7F90F1-08B5-912C-9B28-0181BDD0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6</a:t>
            </a:fld>
            <a:endParaRPr lang="da-DK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C3EB0067-29A2-64D5-39A8-1E73D0552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1485900"/>
            <a:ext cx="7581900" cy="4495800"/>
          </a:xfrm>
          <a:prstGeom prst="rect">
            <a:avLst/>
          </a:prstGeom>
        </p:spPr>
      </p:pic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193FD842-55E0-8027-C09C-66ACB47A75AE}"/>
              </a:ext>
            </a:extLst>
          </p:cNvPr>
          <p:cNvCxnSpPr>
            <a:cxnSpLocks/>
          </p:cNvCxnSpPr>
          <p:nvPr/>
        </p:nvCxnSpPr>
        <p:spPr>
          <a:xfrm>
            <a:off x="3125585" y="4538749"/>
            <a:ext cx="2128059" cy="299258"/>
          </a:xfrm>
          <a:prstGeom prst="straightConnector1">
            <a:avLst/>
          </a:prstGeom>
          <a:ln w="101600" cap="rnd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17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2A68-98D7-020F-997B-71F0207E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DDAC2D-8BEC-6640-35BF-8A6B484B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da-DK" dirty="0"/>
              <a:t>Adgangsmetode 3: SPARQL + </a:t>
            </a:r>
            <a:r>
              <a:rPr lang="da-DK" dirty="0" err="1"/>
              <a:t>wordnet.dk</a:t>
            </a:r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3C6B13-0523-644A-05B6-B222D27A1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3" y="1628775"/>
            <a:ext cx="11012486" cy="4672800"/>
          </a:xfrm>
        </p:spPr>
        <p:txBody>
          <a:bodyPr>
            <a:normAutofit/>
          </a:bodyPr>
          <a:lstStyle/>
          <a:p>
            <a:r>
              <a:rPr lang="da-DK" dirty="0">
                <a:hlinkClick r:id="rId3"/>
              </a:rPr>
              <a:t>wordnet.dk/dannet/sparql</a:t>
            </a:r>
            <a:endParaRPr lang="da-DK" dirty="0"/>
          </a:p>
          <a:p>
            <a:pPr lvl="1"/>
            <a:r>
              <a:rPr lang="da-DK" dirty="0"/>
              <a:t>Online SPARQL-editor tilgængelig for alle</a:t>
            </a:r>
          </a:p>
          <a:p>
            <a:pPr lvl="1"/>
            <a:r>
              <a:rPr lang="da-DK" dirty="0"/>
              <a:t>Med visse begrænsninger!</a:t>
            </a:r>
          </a:p>
          <a:p>
            <a:pPr lvl="1"/>
            <a:endParaRPr lang="da-DK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DBC55-C4B6-CAC6-EE9C-E1A6106C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6FFD22D-F364-4E9E-AF9D-75D698CDD634}" type="datetime1">
              <a:rPr lang="da-DK" smtClean="0"/>
              <a:pPr>
                <a:spcAft>
                  <a:spcPts val="600"/>
                </a:spcAft>
              </a:pPr>
              <a:t>10.04.2026</a:t>
            </a:fld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380EBF-71EC-1C0F-F0B3-C1C2565E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7</a:t>
            </a:fld>
            <a:endParaRPr lang="da-DK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08E26DAE-328F-588F-1FB3-02E0EA9A1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913" y="3215198"/>
            <a:ext cx="9764174" cy="221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76852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øbenhavns Universitet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x9_DK_lille.potx" id="{DA29CE36-1977-485D-8954-B5EBED9E86F5}" vid="{E8447D25-9394-4CE0-9C0A-29EC604760AC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Brugerdefineret design</Template>
  <TotalTime>354</TotalTime>
  <Words>786</Words>
  <Application>Microsoft Macintosh PowerPoint</Application>
  <PresentationFormat>Widescreen</PresentationFormat>
  <Paragraphs>86</Paragraphs>
  <Slides>7</Slides>
  <Notes>7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1" baseType="lpstr">
      <vt:lpstr>Arial</vt:lpstr>
      <vt:lpstr>Microsoft New Tai Lue</vt:lpstr>
      <vt:lpstr>Wingdings</vt:lpstr>
      <vt:lpstr>Brugerdefineret design</vt:lpstr>
      <vt:lpstr>PowerPoint-præsentation</vt:lpstr>
      <vt:lpstr>Hvad er DanNet, helt konkret?</vt:lpstr>
      <vt:lpstr>Ontolex-standarden</vt:lpstr>
      <vt:lpstr>Måder at tilgå DanNet</vt:lpstr>
      <vt:lpstr>Adgangsmetode 1: Python + WN-LMF</vt:lpstr>
      <vt:lpstr>Adgangsmetode 2: Python + RDF + SPARQL</vt:lpstr>
      <vt:lpstr>Adgangsmetode 3: SPARQL + wordnet.dk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Gray</dc:creator>
  <cp:lastModifiedBy>Simon Gray</cp:lastModifiedBy>
  <cp:revision>47</cp:revision>
  <dcterms:created xsi:type="dcterms:W3CDTF">2026-04-10T06:55:24Z</dcterms:created>
  <dcterms:modified xsi:type="dcterms:W3CDTF">2026-04-10T12:50:10Z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</Properties>
</file>